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79" d="100"/>
          <a:sy n="79" d="100"/>
        </p:scale>
        <p:origin x="91" y="85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udra Pratap Chaurasiya" userId="c0eeb3fd526a9a9c" providerId="LiveId" clId="{8E4FC9D7-028F-4881-995B-50F80CC107E4}"/>
    <pc:docChg chg="undo custSel modSld">
      <pc:chgData name="Rudra Pratap Chaurasiya" userId="c0eeb3fd526a9a9c" providerId="LiveId" clId="{8E4FC9D7-028F-4881-995B-50F80CC107E4}" dt="2026-09-27T08:47:05.230" v="12" actId="1076"/>
      <pc:docMkLst>
        <pc:docMk/>
      </pc:docMkLst>
      <pc:sldChg chg="modSp mod">
        <pc:chgData name="Rudra Pratap Chaurasiya" userId="c0eeb3fd526a9a9c" providerId="LiveId" clId="{8E4FC9D7-028F-4881-995B-50F80CC107E4}" dt="2026-09-27T08:47:05.230" v="12" actId="1076"/>
        <pc:sldMkLst>
          <pc:docMk/>
          <pc:sldMk cId="0" sldId="262"/>
        </pc:sldMkLst>
        <pc:picChg chg="mod">
          <ac:chgData name="Rudra Pratap Chaurasiya" userId="c0eeb3fd526a9a9c" providerId="LiveId" clId="{8E4FC9D7-028F-4881-995B-50F80CC107E4}" dt="2026-09-27T08:47:05.230" v="12" actId="1076"/>
          <ac:picMkLst>
            <pc:docMk/>
            <pc:sldMk cId="0" sldId="262"/>
            <ac:picMk id="4" creationId="{00000000-0000-0000-0000-000000000000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453785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2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2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Relationship Id="rId9" Type="http://schemas.openxmlformats.org/officeDocument/2006/relationships/image" Target="../media/image1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2B4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81731" y="0"/>
            <a:ext cx="4407221" cy="6858000"/>
          </a:xfrm>
          <a:prstGeom prst="rect">
            <a:avLst/>
          </a:prstGeom>
          <a:solidFill>
            <a:srgbClr val="081B32"/>
          </a:solidFill>
          <a:ln/>
        </p:spPr>
      </p:sp>
      <p:sp>
        <p:nvSpPr>
          <p:cNvPr id="3" name="Shape 1"/>
          <p:cNvSpPr/>
          <p:nvPr/>
        </p:nvSpPr>
        <p:spPr>
          <a:xfrm>
            <a:off x="9692640" y="-1463040"/>
            <a:ext cx="4572000" cy="4572000"/>
          </a:xfrm>
          <a:prstGeom prst="ellipse">
            <a:avLst/>
          </a:prstGeom>
          <a:solidFill>
            <a:srgbClr val="2E8B57">
              <a:alpha val="1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778240" y="4754880"/>
            <a:ext cx="3108960" cy="3108960"/>
          </a:xfrm>
          <a:prstGeom prst="ellipse">
            <a:avLst/>
          </a:prstGeom>
          <a:solidFill>
            <a:srgbClr val="F2A93B">
              <a:alpha val="10000"/>
            </a:srgbClr>
          </a:solidFill>
          <a:ln/>
        </p:spPr>
      </p:sp>
      <p:sp>
        <p:nvSpPr>
          <p:cNvPr id="6" name="Shape 3"/>
          <p:cNvSpPr/>
          <p:nvPr/>
        </p:nvSpPr>
        <p:spPr>
          <a:xfrm>
            <a:off x="2263140" y="3236976"/>
            <a:ext cx="3063240" cy="384048"/>
          </a:xfrm>
          <a:prstGeom prst="roundRect">
            <a:avLst>
              <a:gd name="adj" fmla="val 19048"/>
            </a:avLst>
          </a:prstGeom>
          <a:solidFill>
            <a:srgbClr val="2E8B57">
              <a:alpha val="85000"/>
            </a:srgbClr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2251010" y="3236976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HEALTH HACKATHON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3778059"/>
            <a:ext cx="6858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SwasthyaSetu AI</a:t>
            </a:r>
            <a:endParaRPr lang="en-US" sz="600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4738179"/>
            <a:ext cx="6583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Federated AI Platform for National-Scale Health Resource</a:t>
            </a:r>
            <a:endParaRPr lang="en-US" sz="20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Supply Chain Resilience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7863840" y="5138928"/>
            <a:ext cx="2194560" cy="0"/>
          </a:xfrm>
          <a:prstGeom prst="line">
            <a:avLst/>
          </a:prstGeom>
          <a:noFill/>
          <a:ln w="28575">
            <a:solidFill>
              <a:srgbClr val="F2A93B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889033" y="513892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200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EKLAVYA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889033" y="5481829"/>
            <a:ext cx="6217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9BB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Leader:  </a:t>
            </a: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Rudra Pratap Chaurasiya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7889033" y="5751203"/>
            <a:ext cx="6583680" cy="448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 dirty="0">
                <a:solidFill>
                  <a:srgbClr val="A9BB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Members:  </a:t>
            </a:r>
            <a:r>
              <a:rPr lang="en-US" sz="1300" i="1" dirty="0">
                <a:solidFill>
                  <a:srgbClr val="8E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Sankalp Sachan   •   Mohammad </a:t>
            </a:r>
            <a:r>
              <a:rPr lang="en-US" sz="1300" i="1" dirty="0" err="1">
                <a:solidFill>
                  <a:srgbClr val="8E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Sirfan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7889033" y="61996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kern="0" spc="150" dirty="0">
                <a:solidFill>
                  <a:srgbClr val="6F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THEME: RESILIENCE</a:t>
            </a:r>
            <a:endParaRPr lang="en-US" sz="1050" dirty="0"/>
          </a:p>
        </p:txBody>
      </p:sp>
      <p:pic>
        <p:nvPicPr>
          <p:cNvPr id="16" name="Image 0" descr="preencoded.png">
            <a:extLst>
              <a:ext uri="{FF2B5EF4-FFF2-40B4-BE49-F238E27FC236}">
                <a16:creationId xmlns:a16="http://schemas.microsoft.com/office/drawing/2014/main" id="{FB692824-EDF8-F6EF-6531-BF60711DE4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80497" y="552450"/>
            <a:ext cx="2571749" cy="241935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8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0" y="320040"/>
            <a:ext cx="502920" cy="50292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4572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3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7772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D2B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India’s PHC Network Runs Blind</a:t>
            </a:r>
            <a:endParaRPr lang="en-US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1536192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5D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healthcare systems across India face persistent supply chain vulnerabilities. There is no real-time visibility into medicine stock, patient footfall, or resource utilisation across the vast network of Primary Health Centres — leading to stock-outs exactly when the country can least afford them.</a:t>
            </a:r>
            <a:endParaRPr lang="en-US" sz="1350" dirty="0"/>
          </a:p>
        </p:txBody>
      </p:sp>
      <p:sp>
        <p:nvSpPr>
          <p:cNvPr id="6" name="Shape 3"/>
          <p:cNvSpPr/>
          <p:nvPr/>
        </p:nvSpPr>
        <p:spPr>
          <a:xfrm>
            <a:off x="640080" y="2606040"/>
            <a:ext cx="2587752" cy="3063240"/>
          </a:xfrm>
          <a:prstGeom prst="roundRect">
            <a:avLst>
              <a:gd name="adj" fmla="val 3180"/>
            </a:avLst>
          </a:prstGeom>
          <a:solidFill>
            <a:srgbClr val="FFFFFF"/>
          </a:solidFill>
          <a:ln w="12700">
            <a:solidFill>
              <a:srgbClr val="E3E9ED"/>
            </a:solidFill>
            <a:prstDash val="solid"/>
          </a:ln>
          <a:effectLst>
            <a:outerShdw blurRad="101600" dist="38100" dir="5400000" algn="bl" rotWithShape="0">
              <a:srgbClr val="9AA9B5">
                <a:alpha val="2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96112" y="2880360"/>
            <a:ext cx="658368" cy="658368"/>
          </a:xfrm>
          <a:prstGeom prst="ellipse">
            <a:avLst/>
          </a:prstGeom>
          <a:solidFill>
            <a:srgbClr val="F7E5E5"/>
          </a:solidFill>
          <a:ln/>
        </p:spPr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0704" y="3044952"/>
            <a:ext cx="329184" cy="32918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41248" y="3685032"/>
            <a:ext cx="21854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0D2B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Invisible Inventory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841248" y="4297680"/>
            <a:ext cx="218541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5D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real-time view of medicine stock, beds, or staff attendance across PHCs.</a:t>
            </a:r>
            <a:endParaRPr lang="en-US" sz="1150" dirty="0"/>
          </a:p>
        </p:txBody>
      </p:sp>
      <p:sp>
        <p:nvSpPr>
          <p:cNvPr id="11" name="Shape 7"/>
          <p:cNvSpPr/>
          <p:nvPr/>
        </p:nvSpPr>
        <p:spPr>
          <a:xfrm>
            <a:off x="3456432" y="2606040"/>
            <a:ext cx="2587752" cy="3063240"/>
          </a:xfrm>
          <a:prstGeom prst="roundRect">
            <a:avLst>
              <a:gd name="adj" fmla="val 3180"/>
            </a:avLst>
          </a:prstGeom>
          <a:solidFill>
            <a:srgbClr val="FFFFFF"/>
          </a:solidFill>
          <a:ln w="12700">
            <a:solidFill>
              <a:srgbClr val="E3E9ED"/>
            </a:solidFill>
            <a:prstDash val="solid"/>
          </a:ln>
          <a:effectLst>
            <a:outerShdw blurRad="101600" dist="38100" dir="5400000" algn="bl" rotWithShape="0">
              <a:srgbClr val="9AA9B5">
                <a:alpha val="25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3712464" y="2880360"/>
            <a:ext cx="658368" cy="658368"/>
          </a:xfrm>
          <a:prstGeom prst="ellipse">
            <a:avLst/>
          </a:prstGeom>
          <a:solidFill>
            <a:srgbClr val="F7E5E5"/>
          </a:solidFill>
          <a:ln/>
        </p:spPr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77056" y="3044952"/>
            <a:ext cx="329184" cy="329184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3657600" y="3685032"/>
            <a:ext cx="21854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0D2B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Late-Stage Alerts</a:t>
            </a:r>
            <a:endParaRPr lang="en-US" sz="1500" dirty="0"/>
          </a:p>
        </p:txBody>
      </p:sp>
      <p:sp>
        <p:nvSpPr>
          <p:cNvPr id="15" name="Text 10"/>
          <p:cNvSpPr txBox="1"/>
          <p:nvPr/>
        </p:nvSpPr>
        <p:spPr>
          <a:xfrm>
            <a:off x="3657600" y="4297680"/>
            <a:ext cx="218541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5D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Stock-outs are discovered after they happen, not predicted before.</a:t>
            </a:r>
            <a:endParaRPr lang="en-US" sz="1150" dirty="0"/>
          </a:p>
        </p:txBody>
      </p:sp>
      <p:sp>
        <p:nvSpPr>
          <p:cNvPr id="16" name="Shape 11"/>
          <p:cNvSpPr/>
          <p:nvPr/>
        </p:nvSpPr>
        <p:spPr>
          <a:xfrm>
            <a:off x="6272784" y="2606040"/>
            <a:ext cx="2587752" cy="3063240"/>
          </a:xfrm>
          <a:prstGeom prst="roundRect">
            <a:avLst>
              <a:gd name="adj" fmla="val 3180"/>
            </a:avLst>
          </a:prstGeom>
          <a:solidFill>
            <a:srgbClr val="FFFFFF"/>
          </a:solidFill>
          <a:ln w="12700">
            <a:solidFill>
              <a:srgbClr val="E3E9ED"/>
            </a:solidFill>
            <a:prstDash val="solid"/>
          </a:ln>
          <a:effectLst>
            <a:outerShdw blurRad="101600" dist="38100" dir="5400000" algn="bl" rotWithShape="0">
              <a:srgbClr val="9AA9B5">
                <a:alpha val="25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6528816" y="2880360"/>
            <a:ext cx="658368" cy="658368"/>
          </a:xfrm>
          <a:prstGeom prst="ellipse">
            <a:avLst/>
          </a:prstGeom>
          <a:solidFill>
            <a:srgbClr val="F7E5E5"/>
          </a:solidFill>
          <a:ln/>
        </p:spPr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93408" y="3044952"/>
            <a:ext cx="329184" cy="329184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473952" y="3685032"/>
            <a:ext cx="21854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0D2B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Trapped Surplus</a:t>
            </a:r>
            <a:endParaRPr lang="en-US" sz="1500" dirty="0"/>
          </a:p>
        </p:txBody>
      </p:sp>
      <p:sp>
        <p:nvSpPr>
          <p:cNvPr id="20" name="Text 14"/>
          <p:cNvSpPr txBox="1"/>
          <p:nvPr/>
        </p:nvSpPr>
        <p:spPr>
          <a:xfrm>
            <a:off x="6473952" y="4297680"/>
            <a:ext cx="218541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5D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district runs short while a neighbouring district holds unused stock.</a:t>
            </a:r>
            <a:endParaRPr lang="en-US" sz="1150" dirty="0"/>
          </a:p>
        </p:txBody>
      </p:sp>
      <p:sp>
        <p:nvSpPr>
          <p:cNvPr id="21" name="Shape 15"/>
          <p:cNvSpPr/>
          <p:nvPr/>
        </p:nvSpPr>
        <p:spPr>
          <a:xfrm>
            <a:off x="9089136" y="2606040"/>
            <a:ext cx="2587752" cy="3063240"/>
          </a:xfrm>
          <a:prstGeom prst="roundRect">
            <a:avLst>
              <a:gd name="adj" fmla="val 3180"/>
            </a:avLst>
          </a:prstGeom>
          <a:solidFill>
            <a:srgbClr val="FFFFFF"/>
          </a:solidFill>
          <a:ln w="12700">
            <a:solidFill>
              <a:srgbClr val="E3E9ED"/>
            </a:solidFill>
            <a:prstDash val="solid"/>
          </a:ln>
          <a:effectLst>
            <a:outerShdw blurRad="101600" dist="38100" dir="5400000" algn="bl" rotWithShape="0">
              <a:srgbClr val="9AA9B5">
                <a:alpha val="25000"/>
              </a:srgbClr>
            </a:outerShdw>
          </a:effectLst>
        </p:spPr>
      </p:sp>
      <p:sp>
        <p:nvSpPr>
          <p:cNvPr id="22" name="Shape 16"/>
          <p:cNvSpPr/>
          <p:nvPr/>
        </p:nvSpPr>
        <p:spPr>
          <a:xfrm>
            <a:off x="9345168" y="2880360"/>
            <a:ext cx="658368" cy="658368"/>
          </a:xfrm>
          <a:prstGeom prst="ellipse">
            <a:avLst/>
          </a:prstGeom>
          <a:solidFill>
            <a:srgbClr val="F7E5E5"/>
          </a:solidFill>
          <a:ln/>
        </p:spPr>
      </p:sp>
      <p:pic>
        <p:nvPicPr>
          <p:cNvPr id="23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09760" y="3044952"/>
            <a:ext cx="329184" cy="329184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9290304" y="3685032"/>
            <a:ext cx="21854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0D2B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Slow Emergency Response</a:t>
            </a:r>
            <a:endParaRPr lang="en-US" sz="1500" dirty="0"/>
          </a:p>
        </p:txBody>
      </p:sp>
      <p:sp>
        <p:nvSpPr>
          <p:cNvPr id="25" name="Text 18"/>
          <p:cNvSpPr txBox="1"/>
          <p:nvPr/>
        </p:nvSpPr>
        <p:spPr>
          <a:xfrm>
            <a:off x="9290304" y="4297680"/>
            <a:ext cx="218541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5D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mechanism to redistribute resources fast when outbreaks hit.</a:t>
            </a:r>
            <a:endParaRPr lang="en-US" sz="1150" dirty="0"/>
          </a:p>
        </p:txBody>
      </p:sp>
      <p:sp>
        <p:nvSpPr>
          <p:cNvPr id="26" name="Shape 19"/>
          <p:cNvSpPr/>
          <p:nvPr/>
        </p:nvSpPr>
        <p:spPr>
          <a:xfrm>
            <a:off x="640080" y="5989320"/>
            <a:ext cx="10881360" cy="548640"/>
          </a:xfrm>
          <a:prstGeom prst="roundRect">
            <a:avLst>
              <a:gd name="adj" fmla="val 13333"/>
            </a:avLst>
          </a:prstGeom>
          <a:solidFill>
            <a:srgbClr val="0D2B4E"/>
          </a:solidFill>
          <a:ln/>
        </p:spPr>
      </p:sp>
      <p:sp>
        <p:nvSpPr>
          <p:cNvPr id="27" name="Text 20"/>
          <p:cNvSpPr txBox="1"/>
          <p:nvPr/>
        </p:nvSpPr>
        <p:spPr>
          <a:xfrm>
            <a:off x="868680" y="598932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effect: 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Preventable stock-outs during exactly the moments — outbreaks, disasters — when supply chain resilience matters most.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2B4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375136" y="265176"/>
            <a:ext cx="612648" cy="61264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0" y="320040"/>
            <a:ext cx="502920" cy="5029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7315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SwasthyaSetu AI</a:t>
            </a:r>
            <a:endParaRPr 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1417320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BFD1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federated AI platform — Predict → Detect → Recommend → Redistribute — built on state-local model training so raw health data never leaves a state’s own servers.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640080" y="2331720"/>
            <a:ext cx="2331720" cy="1965960"/>
          </a:xfrm>
          <a:prstGeom prst="roundRect">
            <a:avLst>
              <a:gd name="adj" fmla="val 4186"/>
            </a:avLst>
          </a:prstGeom>
          <a:solidFill>
            <a:srgbClr val="081B32"/>
          </a:solidFill>
          <a:ln w="12700">
            <a:solidFill>
              <a:srgbClr val="1E3C5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485900" y="2587752"/>
            <a:ext cx="640080" cy="640080"/>
          </a:xfrm>
          <a:prstGeom prst="ellipse">
            <a:avLst/>
          </a:prstGeom>
          <a:solidFill>
            <a:srgbClr val="2E8B57"/>
          </a:solidFill>
          <a:ln/>
        </p:spPr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41348" y="2752344"/>
            <a:ext cx="329184" cy="32918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49808" y="24231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5E7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749808" y="3337560"/>
            <a:ext cx="2112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kern="0" spc="100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VISIBILITY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777240" y="3630168"/>
            <a:ext cx="2057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050" dirty="0">
                <a:solidFill>
                  <a:srgbClr val="C4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stock, bed &amp;</a:t>
            </a:r>
            <a:endParaRPr lang="en-US" sz="105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1050" dirty="0">
                <a:solidFill>
                  <a:srgbClr val="C4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data from every PHC</a:t>
            </a:r>
            <a:endParaRPr lang="en-US" sz="1050" dirty="0"/>
          </a:p>
        </p:txBody>
      </p:sp>
      <p:sp>
        <p:nvSpPr>
          <p:cNvPr id="13" name="Text 9"/>
          <p:cNvSpPr txBox="1"/>
          <p:nvPr/>
        </p:nvSpPr>
        <p:spPr>
          <a:xfrm>
            <a:off x="2990088" y="3113532"/>
            <a:ext cx="2834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4" name="Shape 10"/>
          <p:cNvSpPr/>
          <p:nvPr/>
        </p:nvSpPr>
        <p:spPr>
          <a:xfrm>
            <a:off x="3291840" y="2331720"/>
            <a:ext cx="2331720" cy="1965960"/>
          </a:xfrm>
          <a:prstGeom prst="roundRect">
            <a:avLst>
              <a:gd name="adj" fmla="val 4186"/>
            </a:avLst>
          </a:prstGeom>
          <a:solidFill>
            <a:srgbClr val="081B32"/>
          </a:solidFill>
          <a:ln w="12700">
            <a:solidFill>
              <a:srgbClr val="1E3C5C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4137660" y="2587752"/>
            <a:ext cx="640080" cy="640080"/>
          </a:xfrm>
          <a:prstGeom prst="ellipse">
            <a:avLst/>
          </a:prstGeom>
          <a:solidFill>
            <a:srgbClr val="2E8B57"/>
          </a:solidFill>
          <a:ln/>
        </p:spPr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93108" y="2752344"/>
            <a:ext cx="329184" cy="329184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3401568" y="24231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5E7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8" name="Text 13"/>
          <p:cNvSpPr txBox="1"/>
          <p:nvPr/>
        </p:nvSpPr>
        <p:spPr>
          <a:xfrm>
            <a:off x="3401568" y="3337560"/>
            <a:ext cx="2112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kern="0" spc="100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</a:t>
            </a:r>
            <a:endParaRPr lang="en-US" sz="1250" dirty="0"/>
          </a:p>
        </p:txBody>
      </p:sp>
      <p:sp>
        <p:nvSpPr>
          <p:cNvPr id="19" name="Text 14"/>
          <p:cNvSpPr txBox="1"/>
          <p:nvPr/>
        </p:nvSpPr>
        <p:spPr>
          <a:xfrm>
            <a:off x="3429000" y="3630168"/>
            <a:ext cx="2057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050" dirty="0">
                <a:solidFill>
                  <a:srgbClr val="C4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predicts demand &amp;</a:t>
            </a:r>
            <a:endParaRPr lang="en-US" sz="105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1050" dirty="0">
                <a:solidFill>
                  <a:srgbClr val="C4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stock-out probability</a:t>
            </a:r>
            <a:endParaRPr lang="en-US" sz="1050" dirty="0"/>
          </a:p>
        </p:txBody>
      </p:sp>
      <p:sp>
        <p:nvSpPr>
          <p:cNvPr id="20" name="Text 15"/>
          <p:cNvSpPr txBox="1"/>
          <p:nvPr/>
        </p:nvSpPr>
        <p:spPr>
          <a:xfrm>
            <a:off x="5641848" y="3113532"/>
            <a:ext cx="2834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1" name="Shape 16"/>
          <p:cNvSpPr/>
          <p:nvPr/>
        </p:nvSpPr>
        <p:spPr>
          <a:xfrm>
            <a:off x="5943600" y="2331720"/>
            <a:ext cx="2331720" cy="1965960"/>
          </a:xfrm>
          <a:prstGeom prst="roundRect">
            <a:avLst>
              <a:gd name="adj" fmla="val 4186"/>
            </a:avLst>
          </a:prstGeom>
          <a:solidFill>
            <a:srgbClr val="081B32"/>
          </a:solidFill>
          <a:ln w="12700">
            <a:solidFill>
              <a:srgbClr val="1E3C5C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6789420" y="2587752"/>
            <a:ext cx="640080" cy="640080"/>
          </a:xfrm>
          <a:prstGeom prst="ellipse">
            <a:avLst/>
          </a:prstGeom>
          <a:solidFill>
            <a:srgbClr val="2E8B57"/>
          </a:solidFill>
          <a:ln/>
        </p:spPr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44868" y="2752344"/>
            <a:ext cx="329184" cy="329184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6053328" y="24231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5E7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6053328" y="3337560"/>
            <a:ext cx="2112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kern="0" spc="100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WARNING</a:t>
            </a:r>
            <a:endParaRPr lang="en-US" sz="1250" dirty="0"/>
          </a:p>
        </p:txBody>
      </p:sp>
      <p:sp>
        <p:nvSpPr>
          <p:cNvPr id="26" name="Text 20"/>
          <p:cNvSpPr txBox="1"/>
          <p:nvPr/>
        </p:nvSpPr>
        <p:spPr>
          <a:xfrm>
            <a:off x="6080760" y="3630168"/>
            <a:ext cx="2057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050" dirty="0">
                <a:solidFill>
                  <a:srgbClr val="C4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Alerts before shortage</a:t>
            </a:r>
            <a:endParaRPr lang="en-US" sz="105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1050" dirty="0">
                <a:solidFill>
                  <a:srgbClr val="C4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actually happens</a:t>
            </a:r>
            <a:endParaRPr lang="en-US" sz="1050" dirty="0"/>
          </a:p>
        </p:txBody>
      </p:sp>
      <p:sp>
        <p:nvSpPr>
          <p:cNvPr id="27" name="Text 21"/>
          <p:cNvSpPr txBox="1"/>
          <p:nvPr/>
        </p:nvSpPr>
        <p:spPr>
          <a:xfrm>
            <a:off x="8293608" y="3113532"/>
            <a:ext cx="2834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8" name="Shape 22"/>
          <p:cNvSpPr/>
          <p:nvPr/>
        </p:nvSpPr>
        <p:spPr>
          <a:xfrm>
            <a:off x="8595360" y="2331720"/>
            <a:ext cx="2331720" cy="1965960"/>
          </a:xfrm>
          <a:prstGeom prst="roundRect">
            <a:avLst>
              <a:gd name="adj" fmla="val 4186"/>
            </a:avLst>
          </a:prstGeom>
          <a:solidFill>
            <a:srgbClr val="081B32"/>
          </a:solidFill>
          <a:ln w="12700">
            <a:solidFill>
              <a:srgbClr val="1E3C5C"/>
            </a:solidFill>
            <a:prstDash val="solid"/>
          </a:ln>
        </p:spPr>
      </p:sp>
      <p:sp>
        <p:nvSpPr>
          <p:cNvPr id="29" name="Shape 23"/>
          <p:cNvSpPr/>
          <p:nvPr/>
        </p:nvSpPr>
        <p:spPr>
          <a:xfrm>
            <a:off x="9441180" y="2587752"/>
            <a:ext cx="640080" cy="640080"/>
          </a:xfrm>
          <a:prstGeom prst="ellipse">
            <a:avLst/>
          </a:prstGeom>
          <a:solidFill>
            <a:srgbClr val="2E8B57"/>
          </a:solidFill>
          <a:ln/>
        </p:spPr>
      </p:sp>
      <p:pic>
        <p:nvPicPr>
          <p:cNvPr id="3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96628" y="2752344"/>
            <a:ext cx="329184" cy="329184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8705088" y="24231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5E7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32" name="Text 25"/>
          <p:cNvSpPr txBox="1"/>
          <p:nvPr/>
        </p:nvSpPr>
        <p:spPr>
          <a:xfrm>
            <a:off x="8705088" y="3337560"/>
            <a:ext cx="2112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kern="0" spc="100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REDISTRIBUTE</a:t>
            </a:r>
            <a:endParaRPr lang="en-US" sz="1250" dirty="0"/>
          </a:p>
        </p:txBody>
      </p:sp>
      <p:sp>
        <p:nvSpPr>
          <p:cNvPr id="33" name="Text 26"/>
          <p:cNvSpPr txBox="1"/>
          <p:nvPr/>
        </p:nvSpPr>
        <p:spPr>
          <a:xfrm>
            <a:off x="8732520" y="3630168"/>
            <a:ext cx="2057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050" dirty="0">
                <a:solidFill>
                  <a:srgbClr val="C4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Optimized cross-district</a:t>
            </a:r>
            <a:endParaRPr lang="en-US" sz="105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1050" dirty="0">
                <a:solidFill>
                  <a:srgbClr val="C4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recommendations</a:t>
            </a:r>
            <a:endParaRPr lang="en-US" sz="1050" dirty="0"/>
          </a:p>
        </p:txBody>
      </p:sp>
      <p:sp>
        <p:nvSpPr>
          <p:cNvPr id="34" name="Shape 27"/>
          <p:cNvSpPr/>
          <p:nvPr/>
        </p:nvSpPr>
        <p:spPr>
          <a:xfrm>
            <a:off x="640080" y="4617720"/>
            <a:ext cx="10881360" cy="1691640"/>
          </a:xfrm>
          <a:prstGeom prst="roundRect">
            <a:avLst>
              <a:gd name="adj" fmla="val 4865"/>
            </a:avLst>
          </a:prstGeom>
          <a:solidFill>
            <a:srgbClr val="2E8B57"/>
          </a:solidFill>
          <a:ln/>
        </p:spPr>
      </p:sp>
      <p:sp>
        <p:nvSpPr>
          <p:cNvPr id="35" name="Shape 28"/>
          <p:cNvSpPr/>
          <p:nvPr/>
        </p:nvSpPr>
        <p:spPr>
          <a:xfrm>
            <a:off x="914400" y="4937760"/>
            <a:ext cx="1005840" cy="1005840"/>
          </a:xfrm>
          <a:prstGeom prst="ellipse">
            <a:avLst/>
          </a:prstGeom>
          <a:solidFill>
            <a:srgbClr val="FFFFFF">
              <a:alpha val="92000"/>
            </a:srgbClr>
          </a:solidFill>
          <a:ln/>
        </p:spPr>
      </p:sp>
      <p:pic>
        <p:nvPicPr>
          <p:cNvPr id="36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88720" y="5212080"/>
            <a:ext cx="457200" cy="457200"/>
          </a:xfrm>
          <a:prstGeom prst="rect">
            <a:avLst/>
          </a:prstGeom>
        </p:spPr>
      </p:pic>
      <p:sp>
        <p:nvSpPr>
          <p:cNvPr id="37" name="Text 29"/>
          <p:cNvSpPr txBox="1"/>
          <p:nvPr/>
        </p:nvSpPr>
        <p:spPr>
          <a:xfrm>
            <a:off x="2194560" y="4800600"/>
            <a:ext cx="9052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Privacy-Preserving Federated Learning</a:t>
            </a:r>
            <a:endParaRPr lang="en-US" sz="1700" dirty="0"/>
          </a:p>
        </p:txBody>
      </p:sp>
      <p:sp>
        <p:nvSpPr>
          <p:cNvPr id="38" name="Text 30"/>
          <p:cNvSpPr txBox="1"/>
          <p:nvPr/>
        </p:nvSpPr>
        <p:spPr>
          <a:xfrm>
            <a:off x="2194560" y="5193792"/>
            <a:ext cx="9006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EA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state trains its forecasting model on its own local data. Only model weight updates — never raw patient or stock data — are shared with the National Aggregator (FedAvg), which redistributes an improved global model back to every state.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0" y="320040"/>
            <a:ext cx="502920" cy="50292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4572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THE HOOD</a:t>
            </a:r>
            <a:endParaRPr lang="en-US" sz="13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77724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D2B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 Stack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640080" y="1600200"/>
            <a:ext cx="3520440" cy="1965960"/>
          </a:xfrm>
          <a:prstGeom prst="roundRect">
            <a:avLst>
              <a:gd name="adj" fmla="val 3721"/>
            </a:avLst>
          </a:prstGeom>
          <a:solidFill>
            <a:srgbClr val="F6F8F9"/>
          </a:solidFill>
          <a:ln w="12700">
            <a:solidFill>
              <a:srgbClr val="E3E9ED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41248" y="1801368"/>
            <a:ext cx="502920" cy="502920"/>
          </a:xfrm>
          <a:prstGeom prst="ellipse">
            <a:avLst/>
          </a:prstGeom>
          <a:solidFill>
            <a:srgbClr val="DCEFE3"/>
          </a:solidFill>
          <a:ln/>
        </p:spPr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1920240"/>
            <a:ext cx="265176" cy="265176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463040" y="1819656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2B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Frontend &amp; Edge App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859536" y="2377440"/>
            <a:ext cx="308152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15000"/>
              </a:lnSpc>
              <a:spcAft>
                <a:spcPts val="400"/>
              </a:spcAft>
              <a:buSzPct val="100000"/>
              <a:buChar char="▪"/>
            </a:pPr>
            <a:r>
              <a:rPr lang="en-US" sz="1050" dirty="0">
                <a:solidFill>
                  <a:srgbClr val="5D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(PWA) — offline-first PHC data entry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400"/>
              </a:spcAft>
              <a:buSzPct val="100000"/>
              <a:buChar char="▪"/>
            </a:pPr>
            <a:r>
              <a:rPr lang="en-US" sz="1050" dirty="0">
                <a:solidFill>
                  <a:srgbClr val="5D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Recharts / Plotly — dashboards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400"/>
              </a:spcAft>
              <a:buSzPct val="100000"/>
              <a:buChar char="▪"/>
            </a:pPr>
            <a:r>
              <a:rPr lang="en-US" sz="1050" dirty="0">
                <a:solidFill>
                  <a:srgbClr val="5D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Mapbox — geographic risk view</a:t>
            </a:r>
            <a:endParaRPr lang="en-US" sz="1050" dirty="0"/>
          </a:p>
        </p:txBody>
      </p:sp>
      <p:sp>
        <p:nvSpPr>
          <p:cNvPr id="10" name="Shape 6"/>
          <p:cNvSpPr/>
          <p:nvPr/>
        </p:nvSpPr>
        <p:spPr>
          <a:xfrm>
            <a:off x="4343400" y="1600200"/>
            <a:ext cx="3520440" cy="1965960"/>
          </a:xfrm>
          <a:prstGeom prst="roundRect">
            <a:avLst>
              <a:gd name="adj" fmla="val 3721"/>
            </a:avLst>
          </a:prstGeom>
          <a:solidFill>
            <a:srgbClr val="F6F8F9"/>
          </a:solidFill>
          <a:ln w="12700">
            <a:solidFill>
              <a:srgbClr val="E3E9ED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544568" y="1801368"/>
            <a:ext cx="502920" cy="502920"/>
          </a:xfrm>
          <a:prstGeom prst="ellipse">
            <a:avLst/>
          </a:prstGeom>
          <a:solidFill>
            <a:srgbClr val="DCEFE3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3440" y="1920240"/>
            <a:ext cx="265176" cy="265176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166360" y="1819656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2B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Backend</a:t>
            </a:r>
            <a:endParaRPr lang="en-US" sz="1400" dirty="0"/>
          </a:p>
        </p:txBody>
      </p:sp>
      <p:sp>
        <p:nvSpPr>
          <p:cNvPr id="14" name="Text 9"/>
          <p:cNvSpPr txBox="1"/>
          <p:nvPr/>
        </p:nvSpPr>
        <p:spPr>
          <a:xfrm>
            <a:off x="4562856" y="2377440"/>
            <a:ext cx="308152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15000"/>
              </a:lnSpc>
              <a:spcAft>
                <a:spcPts val="400"/>
              </a:spcAft>
              <a:buSzPct val="100000"/>
              <a:buChar char="▪"/>
            </a:pPr>
            <a:r>
              <a:rPr lang="en-US" sz="1050" dirty="0">
                <a:solidFill>
                  <a:srgbClr val="5D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(Python) — REST APIs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400"/>
              </a:spcAft>
              <a:buSzPct val="100000"/>
              <a:buChar char="▪"/>
            </a:pPr>
            <a:r>
              <a:rPr lang="en-US" sz="1050" dirty="0">
                <a:solidFill>
                  <a:srgbClr val="5D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JWT-based role auth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400"/>
              </a:spcAft>
              <a:buSzPct val="100000"/>
              <a:buChar char="▪"/>
            </a:pPr>
            <a:r>
              <a:rPr lang="en-US" sz="1050" dirty="0">
                <a:solidFill>
                  <a:srgbClr val="5D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Compose — multi-state simulation</a:t>
            </a:r>
            <a:endParaRPr lang="en-US" sz="1050" dirty="0"/>
          </a:p>
        </p:txBody>
      </p:sp>
      <p:sp>
        <p:nvSpPr>
          <p:cNvPr id="15" name="Shape 10"/>
          <p:cNvSpPr/>
          <p:nvPr/>
        </p:nvSpPr>
        <p:spPr>
          <a:xfrm>
            <a:off x="8046720" y="1600200"/>
            <a:ext cx="3520440" cy="1965960"/>
          </a:xfrm>
          <a:prstGeom prst="roundRect">
            <a:avLst>
              <a:gd name="adj" fmla="val 3721"/>
            </a:avLst>
          </a:prstGeom>
          <a:solidFill>
            <a:srgbClr val="F6F8F9"/>
          </a:solidFill>
          <a:ln w="12700">
            <a:solidFill>
              <a:srgbClr val="E3E9ED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8247888" y="1801368"/>
            <a:ext cx="502920" cy="502920"/>
          </a:xfrm>
          <a:prstGeom prst="ellipse">
            <a:avLst/>
          </a:prstGeom>
          <a:solidFill>
            <a:srgbClr val="DCEFE3"/>
          </a:solidFill>
          <a:ln/>
        </p:spPr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66760" y="1920240"/>
            <a:ext cx="265176" cy="265176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8869680" y="1819656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2B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Layer</a:t>
            </a:r>
            <a:endParaRPr lang="en-US" sz="1400" dirty="0"/>
          </a:p>
        </p:txBody>
      </p:sp>
      <p:sp>
        <p:nvSpPr>
          <p:cNvPr id="19" name="Text 13"/>
          <p:cNvSpPr txBox="1"/>
          <p:nvPr/>
        </p:nvSpPr>
        <p:spPr>
          <a:xfrm>
            <a:off x="8266176" y="2377440"/>
            <a:ext cx="308152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15000"/>
              </a:lnSpc>
              <a:spcAft>
                <a:spcPts val="400"/>
              </a:spcAft>
              <a:buSzPct val="100000"/>
              <a:buChar char="▪"/>
            </a:pPr>
            <a:r>
              <a:rPr lang="en-US" sz="1050" dirty="0">
                <a:solidFill>
                  <a:srgbClr val="5D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+ TimescaleDB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400"/>
              </a:spcAft>
              <a:buSzPct val="100000"/>
              <a:buChar char="▪"/>
            </a:pPr>
            <a:r>
              <a:rPr lang="en-US" sz="1050" dirty="0">
                <a:solidFill>
                  <a:srgbClr val="5D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Time-series stock &amp; consumption logs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400"/>
              </a:spcAft>
              <a:buSzPct val="100000"/>
              <a:buChar char="▪"/>
            </a:pPr>
            <a:r>
              <a:rPr lang="en-US" sz="1050" dirty="0">
                <a:solidFill>
                  <a:srgbClr val="5D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ABDM-compatible (FHIR) schema design</a:t>
            </a:r>
            <a:endParaRPr lang="en-US" sz="1050" dirty="0"/>
          </a:p>
        </p:txBody>
      </p:sp>
      <p:sp>
        <p:nvSpPr>
          <p:cNvPr id="20" name="Shape 14"/>
          <p:cNvSpPr/>
          <p:nvPr/>
        </p:nvSpPr>
        <p:spPr>
          <a:xfrm>
            <a:off x="640080" y="3749040"/>
            <a:ext cx="3520440" cy="1965960"/>
          </a:xfrm>
          <a:prstGeom prst="roundRect">
            <a:avLst>
              <a:gd name="adj" fmla="val 3721"/>
            </a:avLst>
          </a:prstGeom>
          <a:solidFill>
            <a:srgbClr val="F6F8F9"/>
          </a:solidFill>
          <a:ln w="12700">
            <a:solidFill>
              <a:srgbClr val="E3E9ED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841248" y="3950208"/>
            <a:ext cx="502920" cy="502920"/>
          </a:xfrm>
          <a:prstGeom prst="ellipse">
            <a:avLst/>
          </a:prstGeom>
          <a:solidFill>
            <a:srgbClr val="DCEFE3"/>
          </a:solidFill>
          <a:ln/>
        </p:spPr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0120" y="4069080"/>
            <a:ext cx="265176" cy="26517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463040" y="3968496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2B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/ Forecasting</a:t>
            </a:r>
            <a:endParaRPr lang="en-US" sz="1400" dirty="0"/>
          </a:p>
        </p:txBody>
      </p:sp>
      <p:sp>
        <p:nvSpPr>
          <p:cNvPr id="24" name="Text 17"/>
          <p:cNvSpPr txBox="1"/>
          <p:nvPr/>
        </p:nvSpPr>
        <p:spPr>
          <a:xfrm>
            <a:off x="859536" y="4526280"/>
            <a:ext cx="308152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15000"/>
              </a:lnSpc>
              <a:spcAft>
                <a:spcPts val="400"/>
              </a:spcAft>
              <a:buSzPct val="100000"/>
              <a:buChar char="▪"/>
            </a:pPr>
            <a:r>
              <a:rPr lang="en-US" sz="1050" dirty="0">
                <a:solidFill>
                  <a:srgbClr val="5D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Prophet / XGBoost — demand forecasting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400"/>
              </a:spcAft>
              <a:buSzPct val="100000"/>
              <a:buChar char="▪"/>
            </a:pPr>
            <a:r>
              <a:rPr lang="en-US" sz="1050" dirty="0">
                <a:solidFill>
                  <a:srgbClr val="5D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Stock-out probability modelling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400"/>
              </a:spcAft>
              <a:buSzPct val="100000"/>
              <a:buChar char="▪"/>
            </a:pPr>
            <a:r>
              <a:rPr lang="en-US" sz="1050" dirty="0">
                <a:solidFill>
                  <a:srgbClr val="5D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Outbreak / anomaly detection</a:t>
            </a:r>
            <a:endParaRPr lang="en-US" sz="1050" dirty="0"/>
          </a:p>
        </p:txBody>
      </p:sp>
      <p:sp>
        <p:nvSpPr>
          <p:cNvPr id="25" name="Shape 18"/>
          <p:cNvSpPr/>
          <p:nvPr/>
        </p:nvSpPr>
        <p:spPr>
          <a:xfrm>
            <a:off x="4343400" y="3749040"/>
            <a:ext cx="3520440" cy="1965960"/>
          </a:xfrm>
          <a:prstGeom prst="roundRect">
            <a:avLst>
              <a:gd name="adj" fmla="val 3721"/>
            </a:avLst>
          </a:prstGeom>
          <a:solidFill>
            <a:srgbClr val="F6F8F9"/>
          </a:solidFill>
          <a:ln w="12700">
            <a:solidFill>
              <a:srgbClr val="E3E9ED"/>
            </a:solidFill>
            <a:prstDash val="solid"/>
          </a:ln>
        </p:spPr>
      </p:sp>
      <p:sp>
        <p:nvSpPr>
          <p:cNvPr id="26" name="Shape 19"/>
          <p:cNvSpPr/>
          <p:nvPr/>
        </p:nvSpPr>
        <p:spPr>
          <a:xfrm>
            <a:off x="4544568" y="3950208"/>
            <a:ext cx="502920" cy="502920"/>
          </a:xfrm>
          <a:prstGeom prst="ellipse">
            <a:avLst/>
          </a:prstGeom>
          <a:solidFill>
            <a:srgbClr val="DCEFE3"/>
          </a:solidFill>
          <a:ln/>
        </p:spPr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63440" y="4069080"/>
            <a:ext cx="265176" cy="265176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5166360" y="3968496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2B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Federated Learning</a:t>
            </a:r>
            <a:endParaRPr lang="en-US" sz="1400" dirty="0"/>
          </a:p>
        </p:txBody>
      </p:sp>
      <p:sp>
        <p:nvSpPr>
          <p:cNvPr id="29" name="Text 21"/>
          <p:cNvSpPr txBox="1"/>
          <p:nvPr/>
        </p:nvSpPr>
        <p:spPr>
          <a:xfrm>
            <a:off x="4562856" y="4526280"/>
            <a:ext cx="308152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15000"/>
              </a:lnSpc>
              <a:spcAft>
                <a:spcPts val="400"/>
              </a:spcAft>
              <a:buSzPct val="100000"/>
              <a:buChar char="▪"/>
            </a:pPr>
            <a:r>
              <a:rPr lang="en-US" sz="1050" dirty="0">
                <a:solidFill>
                  <a:srgbClr val="5D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Flower (flwr) — federated simulation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400"/>
              </a:spcAft>
              <a:buSzPct val="100000"/>
              <a:buChar char="▪"/>
            </a:pPr>
            <a:r>
              <a:rPr lang="en-US" sz="1050" dirty="0">
                <a:solidFill>
                  <a:srgbClr val="5D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FedAvg across state nodes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400"/>
              </a:spcAft>
              <a:buSzPct val="100000"/>
              <a:buChar char="▪"/>
            </a:pPr>
            <a:r>
              <a:rPr lang="en-US" sz="1050" dirty="0">
                <a:solidFill>
                  <a:srgbClr val="5D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training, weights-only sharing</a:t>
            </a:r>
            <a:endParaRPr lang="en-US" sz="1050" dirty="0"/>
          </a:p>
        </p:txBody>
      </p:sp>
      <p:sp>
        <p:nvSpPr>
          <p:cNvPr id="30" name="Shape 22"/>
          <p:cNvSpPr/>
          <p:nvPr/>
        </p:nvSpPr>
        <p:spPr>
          <a:xfrm>
            <a:off x="8046720" y="3749040"/>
            <a:ext cx="3520440" cy="1965960"/>
          </a:xfrm>
          <a:prstGeom prst="roundRect">
            <a:avLst>
              <a:gd name="adj" fmla="val 3721"/>
            </a:avLst>
          </a:prstGeom>
          <a:solidFill>
            <a:srgbClr val="F6F8F9"/>
          </a:solidFill>
          <a:ln w="12700">
            <a:solidFill>
              <a:srgbClr val="E3E9ED"/>
            </a:solidFill>
            <a:prstDash val="solid"/>
          </a:ln>
        </p:spPr>
      </p:sp>
      <p:sp>
        <p:nvSpPr>
          <p:cNvPr id="31" name="Shape 23"/>
          <p:cNvSpPr/>
          <p:nvPr/>
        </p:nvSpPr>
        <p:spPr>
          <a:xfrm>
            <a:off x="8247888" y="3950208"/>
            <a:ext cx="502920" cy="502920"/>
          </a:xfrm>
          <a:prstGeom prst="ellipse">
            <a:avLst/>
          </a:prstGeom>
          <a:solidFill>
            <a:srgbClr val="DCEFE3"/>
          </a:solidFill>
          <a:ln/>
        </p:spPr>
      </p:sp>
      <p:pic>
        <p:nvPicPr>
          <p:cNvPr id="32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366760" y="4069080"/>
            <a:ext cx="265176" cy="265176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8869680" y="3968496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2B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Optimization</a:t>
            </a:r>
            <a:endParaRPr lang="en-US" sz="1400" dirty="0"/>
          </a:p>
        </p:txBody>
      </p:sp>
      <p:sp>
        <p:nvSpPr>
          <p:cNvPr id="34" name="Text 25"/>
          <p:cNvSpPr txBox="1"/>
          <p:nvPr/>
        </p:nvSpPr>
        <p:spPr>
          <a:xfrm>
            <a:off x="8266176" y="4526280"/>
            <a:ext cx="308152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15000"/>
              </a:lnSpc>
              <a:spcAft>
                <a:spcPts val="400"/>
              </a:spcAft>
              <a:buSzPct val="100000"/>
              <a:buChar char="▪"/>
            </a:pPr>
            <a:r>
              <a:rPr lang="en-US" sz="1050" dirty="0">
                <a:solidFill>
                  <a:srgbClr val="5D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PuLP / OR-Tools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400"/>
              </a:spcAft>
              <a:buSzPct val="100000"/>
              <a:buChar char="▪"/>
            </a:pPr>
            <a:r>
              <a:rPr lang="en-US" sz="1050" dirty="0">
                <a:solidFill>
                  <a:srgbClr val="5D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Transportation-problem redistribution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400"/>
              </a:spcAft>
              <a:buSzPct val="100000"/>
              <a:buChar char="▪"/>
            </a:pPr>
            <a:r>
              <a:rPr lang="en-US" sz="1050" dirty="0">
                <a:solidFill>
                  <a:srgbClr val="5D7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Distance, urgency &amp; shelf-life aware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81B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375136" y="265176"/>
            <a:ext cx="612648" cy="61264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0" y="320040"/>
            <a:ext cx="502920" cy="5029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PROTOTYPE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7315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Landing Page to Core Capabilities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640080" y="1508760"/>
            <a:ext cx="5257800" cy="2791787"/>
          </a:xfrm>
          <a:prstGeom prst="roundRect">
            <a:avLst>
              <a:gd name="adj" fmla="val 1965"/>
            </a:avLst>
          </a:prstGeom>
          <a:solidFill>
            <a:srgbClr val="E7ECEF"/>
          </a:solidFill>
          <a:ln w="12700">
            <a:solidFill>
              <a:srgbClr val="D3DBE0"/>
            </a:solidFill>
            <a:prstDash val="solid"/>
          </a:ln>
          <a:effectLst>
            <a:outerShdw blurRad="127000" dist="50800" dir="5400000" algn="bl" rotWithShape="0">
              <a:srgbClr val="8FA0AD">
                <a:alpha val="3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68096" y="1591056"/>
            <a:ext cx="91440" cy="91440"/>
          </a:xfrm>
          <a:prstGeom prst="ellipse">
            <a:avLst/>
          </a:prstGeom>
          <a:solidFill>
            <a:srgbClr val="B23A3A"/>
          </a:solidFill>
          <a:ln/>
        </p:spPr>
      </p:sp>
      <p:sp>
        <p:nvSpPr>
          <p:cNvPr id="8" name="Shape 5"/>
          <p:cNvSpPr/>
          <p:nvPr/>
        </p:nvSpPr>
        <p:spPr>
          <a:xfrm>
            <a:off x="950976" y="1591056"/>
            <a:ext cx="91440" cy="91440"/>
          </a:xfrm>
          <a:prstGeom prst="ellipse">
            <a:avLst/>
          </a:prstGeom>
          <a:solidFill>
            <a:srgbClr val="F2A93B"/>
          </a:solidFill>
          <a:ln/>
        </p:spPr>
      </p:sp>
      <p:sp>
        <p:nvSpPr>
          <p:cNvPr id="9" name="Shape 6"/>
          <p:cNvSpPr/>
          <p:nvPr/>
        </p:nvSpPr>
        <p:spPr>
          <a:xfrm>
            <a:off x="1133856" y="1591056"/>
            <a:ext cx="91440" cy="91440"/>
          </a:xfrm>
          <a:prstGeom prst="ellipse">
            <a:avLst/>
          </a:prstGeom>
          <a:solidFill>
            <a:srgbClr val="2E8B57"/>
          </a:solidFill>
          <a:ln/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656" y="1764792"/>
            <a:ext cx="5184648" cy="2499179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40080" y="4355411"/>
            <a:ext cx="5257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i="1" dirty="0">
                <a:solidFill>
                  <a:srgbClr val="A9BB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Landing hero — scroll-scrubbed frame animation, brand tagline &amp; CTA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6263640" y="1508760"/>
            <a:ext cx="5257800" cy="2780445"/>
          </a:xfrm>
          <a:prstGeom prst="roundRect">
            <a:avLst>
              <a:gd name="adj" fmla="val 1973"/>
            </a:avLst>
          </a:prstGeom>
          <a:solidFill>
            <a:srgbClr val="E7ECEF"/>
          </a:solidFill>
          <a:ln w="12700">
            <a:solidFill>
              <a:srgbClr val="D3DBE0"/>
            </a:solidFill>
            <a:prstDash val="solid"/>
          </a:ln>
          <a:effectLst>
            <a:outerShdw blurRad="127000" dist="50800" dir="5400000" algn="bl" rotWithShape="0">
              <a:srgbClr val="8FA0AD">
                <a:alpha val="30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6391656" y="1591056"/>
            <a:ext cx="91440" cy="91440"/>
          </a:xfrm>
          <a:prstGeom prst="ellipse">
            <a:avLst/>
          </a:prstGeom>
          <a:solidFill>
            <a:srgbClr val="B23A3A"/>
          </a:solidFill>
          <a:ln/>
        </p:spPr>
      </p:sp>
      <p:sp>
        <p:nvSpPr>
          <p:cNvPr id="14" name="Shape 10"/>
          <p:cNvSpPr/>
          <p:nvPr/>
        </p:nvSpPr>
        <p:spPr>
          <a:xfrm>
            <a:off x="6574536" y="1591056"/>
            <a:ext cx="91440" cy="91440"/>
          </a:xfrm>
          <a:prstGeom prst="ellipse">
            <a:avLst/>
          </a:prstGeom>
          <a:solidFill>
            <a:srgbClr val="F2A93B"/>
          </a:solidFill>
          <a:ln/>
        </p:spPr>
      </p:sp>
      <p:sp>
        <p:nvSpPr>
          <p:cNvPr id="15" name="Shape 11"/>
          <p:cNvSpPr/>
          <p:nvPr/>
        </p:nvSpPr>
        <p:spPr>
          <a:xfrm>
            <a:off x="6757416" y="1591056"/>
            <a:ext cx="91440" cy="91440"/>
          </a:xfrm>
          <a:prstGeom prst="ellipse">
            <a:avLst/>
          </a:prstGeom>
          <a:solidFill>
            <a:srgbClr val="2E8B57"/>
          </a:solidFill>
          <a:ln/>
        </p:spPr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0216" y="1764792"/>
            <a:ext cx="5184648" cy="2487837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6263640" y="4344069"/>
            <a:ext cx="5257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i="1" dirty="0">
                <a:solidFill>
                  <a:srgbClr val="A9BB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Core Capabilities — bridging eVIN, ABDM &amp; HMIS into one intelligence layer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81B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375136" y="265176"/>
            <a:ext cx="612648" cy="61264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0" y="320040"/>
            <a:ext cx="502920" cy="5029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PROTOTYPE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7315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Role-Based Access, Secured End-to-End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640080" y="1508760"/>
            <a:ext cx="6446520" cy="3324671"/>
          </a:xfrm>
          <a:prstGeom prst="roundRect">
            <a:avLst>
              <a:gd name="adj" fmla="val 1650"/>
            </a:avLst>
          </a:prstGeom>
          <a:solidFill>
            <a:srgbClr val="E7ECEF"/>
          </a:solidFill>
          <a:ln w="12700">
            <a:solidFill>
              <a:srgbClr val="D3DBE0"/>
            </a:solidFill>
            <a:prstDash val="solid"/>
          </a:ln>
          <a:effectLst>
            <a:outerShdw blurRad="127000" dist="50800" dir="5400000" algn="bl" rotWithShape="0">
              <a:srgbClr val="8FA0AD">
                <a:alpha val="3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68096" y="1591056"/>
            <a:ext cx="91440" cy="91440"/>
          </a:xfrm>
          <a:prstGeom prst="ellipse">
            <a:avLst/>
          </a:prstGeom>
          <a:solidFill>
            <a:srgbClr val="B23A3A"/>
          </a:solidFill>
          <a:ln/>
        </p:spPr>
      </p:sp>
      <p:sp>
        <p:nvSpPr>
          <p:cNvPr id="8" name="Shape 5"/>
          <p:cNvSpPr/>
          <p:nvPr/>
        </p:nvSpPr>
        <p:spPr>
          <a:xfrm>
            <a:off x="950976" y="1591056"/>
            <a:ext cx="91440" cy="91440"/>
          </a:xfrm>
          <a:prstGeom prst="ellipse">
            <a:avLst/>
          </a:prstGeom>
          <a:solidFill>
            <a:srgbClr val="F2A93B"/>
          </a:solidFill>
          <a:ln/>
        </p:spPr>
      </p:sp>
      <p:sp>
        <p:nvSpPr>
          <p:cNvPr id="9" name="Shape 6"/>
          <p:cNvSpPr/>
          <p:nvPr/>
        </p:nvSpPr>
        <p:spPr>
          <a:xfrm>
            <a:off x="1133856" y="1591056"/>
            <a:ext cx="91440" cy="91440"/>
          </a:xfrm>
          <a:prstGeom prst="ellipse">
            <a:avLst/>
          </a:prstGeom>
          <a:solidFill>
            <a:srgbClr val="2E8B57"/>
          </a:solidFill>
          <a:ln/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656" y="1764792"/>
            <a:ext cx="6373368" cy="3032063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40080" y="4888295"/>
            <a:ext cx="6446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i="1" dirty="0">
                <a:solidFill>
                  <a:srgbClr val="A9BB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operational stations — PHC staff to National Health Ministry, one platform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7360920" y="1508760"/>
            <a:ext cx="3794760" cy="3316450"/>
          </a:xfrm>
          <a:prstGeom prst="roundRect">
            <a:avLst>
              <a:gd name="adj" fmla="val 1654"/>
            </a:avLst>
          </a:prstGeom>
          <a:solidFill>
            <a:srgbClr val="E7ECEF"/>
          </a:solidFill>
          <a:ln w="12700">
            <a:solidFill>
              <a:srgbClr val="D3DBE0"/>
            </a:solidFill>
            <a:prstDash val="solid"/>
          </a:ln>
          <a:effectLst>
            <a:outerShdw blurRad="127000" dist="50800" dir="5400000" algn="bl" rotWithShape="0">
              <a:srgbClr val="8FA0AD">
                <a:alpha val="30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7488936" y="1591056"/>
            <a:ext cx="91440" cy="91440"/>
          </a:xfrm>
          <a:prstGeom prst="ellipse">
            <a:avLst/>
          </a:prstGeom>
          <a:solidFill>
            <a:srgbClr val="B23A3A"/>
          </a:solidFill>
          <a:ln/>
        </p:spPr>
      </p:sp>
      <p:sp>
        <p:nvSpPr>
          <p:cNvPr id="14" name="Shape 10"/>
          <p:cNvSpPr/>
          <p:nvPr/>
        </p:nvSpPr>
        <p:spPr>
          <a:xfrm>
            <a:off x="7671816" y="1591056"/>
            <a:ext cx="91440" cy="91440"/>
          </a:xfrm>
          <a:prstGeom prst="ellipse">
            <a:avLst/>
          </a:prstGeom>
          <a:solidFill>
            <a:srgbClr val="F2A93B"/>
          </a:solidFill>
          <a:ln/>
        </p:spPr>
      </p:sp>
      <p:sp>
        <p:nvSpPr>
          <p:cNvPr id="15" name="Shape 11"/>
          <p:cNvSpPr/>
          <p:nvPr/>
        </p:nvSpPr>
        <p:spPr>
          <a:xfrm>
            <a:off x="7854696" y="1591056"/>
            <a:ext cx="91440" cy="91440"/>
          </a:xfrm>
          <a:prstGeom prst="ellipse">
            <a:avLst/>
          </a:prstGeom>
          <a:solidFill>
            <a:srgbClr val="2E8B57"/>
          </a:solidFill>
          <a:ln/>
        </p:spPr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97496" y="1764792"/>
            <a:ext cx="3721608" cy="3023842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7360920" y="4880074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i="1" dirty="0">
                <a:solidFill>
                  <a:srgbClr val="A9BB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 sign-in — zero patient records ever centralized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2B4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-1645920"/>
            <a:ext cx="5029200" cy="5029200"/>
          </a:xfrm>
          <a:prstGeom prst="ellipse">
            <a:avLst/>
          </a:prstGeom>
          <a:solidFill>
            <a:srgbClr val="2E8B57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601200" y="4114800"/>
            <a:ext cx="4572000" cy="4572000"/>
          </a:xfrm>
          <a:prstGeom prst="ellipse">
            <a:avLst/>
          </a:prstGeom>
          <a:solidFill>
            <a:srgbClr val="F2A93B">
              <a:alpha val="10000"/>
            </a:srgbClr>
          </a:solidFill>
          <a:ln/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9175" y="552450"/>
            <a:ext cx="2571749" cy="241935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0" y="3246120"/>
            <a:ext cx="121889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4000" dirty="0"/>
          </a:p>
        </p:txBody>
      </p:sp>
      <p:sp>
        <p:nvSpPr>
          <p:cNvPr id="6" name="Text 3"/>
          <p:cNvSpPr txBox="1"/>
          <p:nvPr/>
        </p:nvSpPr>
        <p:spPr>
          <a:xfrm>
            <a:off x="1371600" y="4041648"/>
            <a:ext cx="9445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BFD1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 resilient, privacy-first supply chain for India’s public health system.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175504" y="4709160"/>
            <a:ext cx="1828800" cy="0"/>
          </a:xfrm>
          <a:prstGeom prst="line">
            <a:avLst/>
          </a:prstGeom>
          <a:noFill/>
          <a:ln w="28575">
            <a:solidFill>
              <a:srgbClr val="F2A93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0" y="4937760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kern="0" spc="200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EKLAVYA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0" y="5321808"/>
            <a:ext cx="121889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Rudra Pratap Chaurasiya  (Team Leader)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-9525" y="5632704"/>
            <a:ext cx="121889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i="1" dirty="0">
                <a:solidFill>
                  <a:srgbClr val="8E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Sankalp Sachan   • Mohammad  </a:t>
            </a:r>
            <a:r>
              <a:rPr lang="en-US" sz="1200" i="1" dirty="0" err="1">
                <a:solidFill>
                  <a:srgbClr val="8E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Sirfan</a:t>
            </a:r>
            <a:r>
              <a:rPr lang="en-US" sz="1200" i="1" dirty="0">
                <a:solidFill>
                  <a:srgbClr val="8E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0" y="6446520"/>
            <a:ext cx="1218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kern="0" spc="100" dirty="0">
                <a:solidFill>
                  <a:srgbClr val="5E7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SwasthyaSetu AI  —  Smart Health. Stronger India.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</TotalTime>
  <Words>498</Words>
  <Application>Microsoft Office PowerPoint</Application>
  <PresentationFormat>Widescreen</PresentationFormat>
  <Paragraphs>91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Rudra Pratap Chaurasiya</cp:lastModifiedBy>
  <cp:revision>5</cp:revision>
  <dcterms:created xsi:type="dcterms:W3CDTF">2026-08-29T19:32:51Z</dcterms:created>
  <dcterms:modified xsi:type="dcterms:W3CDTF">2026-09-27T08:47:14Z</dcterms:modified>
</cp:coreProperties>
</file>