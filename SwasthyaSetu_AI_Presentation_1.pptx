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1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378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81731" y="0"/>
            <a:ext cx="4407221" cy="6858000"/>
          </a:xfrm>
          <a:prstGeom prst="rect">
            <a:avLst/>
          </a:prstGeom>
          <a:solidFill>
            <a:srgbClr val="081B32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2E8B57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4754880"/>
            <a:ext cx="3108960" cy="3108960"/>
          </a:xfrm>
          <a:prstGeom prst="ellipse">
            <a:avLst/>
          </a:prstGeom>
          <a:solidFill>
            <a:srgbClr val="F2A93B">
              <a:alpha val="1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2263140" y="3236976"/>
            <a:ext cx="3063240" cy="384048"/>
          </a:xfrm>
          <a:prstGeom prst="roundRect">
            <a:avLst>
              <a:gd name="adj" fmla="val 19048"/>
            </a:avLst>
          </a:prstGeom>
          <a:solidFill>
            <a:srgbClr val="2E8B57">
              <a:alpha val="85000"/>
            </a:srgbClr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2251010" y="323697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HEALTH HACKATHON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778059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SwasthyaSetu AI</a:t>
            </a:r>
            <a:endParaRPr lang="en-US" sz="60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4738179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Federated AI Platform for National-Scale Health Resource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Supply Chain Resilience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7863840" y="5138928"/>
            <a:ext cx="2194560" cy="0"/>
          </a:xfrm>
          <a:prstGeom prst="line">
            <a:avLst/>
          </a:prstGeom>
          <a:noFill/>
          <a:ln w="28575">
            <a:solidFill>
              <a:srgbClr val="F2A93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889033" y="51389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EKLAVYA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889033" y="5481829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BB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Leader: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Rudra Pratap Chaurasiya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889033" y="5751203"/>
            <a:ext cx="6583680" cy="44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A9BB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  </a:t>
            </a:r>
            <a:r>
              <a:rPr lang="en-US" sz="1300" i="1" dirty="0">
                <a:solidFill>
                  <a:srgbClr val="8E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Sankalp Sachan   •   Mohammad </a:t>
            </a:r>
            <a:r>
              <a:rPr lang="en-US" sz="1300" i="1" dirty="0" err="1">
                <a:solidFill>
                  <a:srgbClr val="8E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Sirfan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889033" y="6199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50" dirty="0">
                <a:solidFill>
                  <a:srgbClr val="6F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THEME: RESILIENCE</a:t>
            </a:r>
            <a:endParaRPr lang="en-US" sz="1050" dirty="0"/>
          </a:p>
        </p:txBody>
      </p:sp>
      <p:pic>
        <p:nvPicPr>
          <p:cNvPr id="16" name="Image 0" descr="preencoded.png">
            <a:extLst>
              <a:ext uri="{FF2B5EF4-FFF2-40B4-BE49-F238E27FC236}">
                <a16:creationId xmlns:a16="http://schemas.microsoft.com/office/drawing/2014/main" id="{FB692824-EDF8-F6EF-6531-BF60711DE4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0497" y="552450"/>
            <a:ext cx="2571749" cy="2419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3200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7772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2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India’s PHC Network Runs Blind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53619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healthcare systems across India face persistent supply chain vulnerabilities. There is no real-time visibility into medicine stock, patient footfall, or resource utilisation across the vast network of Primary Health Centres — leading to stock-outs exactly when the country can least afford them.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40080" y="2606040"/>
            <a:ext cx="2587752" cy="3063240"/>
          </a:xfrm>
          <a:prstGeom prst="roundRect">
            <a:avLst>
              <a:gd name="adj" fmla="val 3180"/>
            </a:avLst>
          </a:prstGeom>
          <a:solidFill>
            <a:srgbClr val="FFFFFF"/>
          </a:solidFill>
          <a:ln w="12700">
            <a:solidFill>
              <a:srgbClr val="E3E9ED"/>
            </a:solidFill>
            <a:prstDash val="solid"/>
          </a:ln>
          <a:effectLst>
            <a:outerShdw blurRad="101600" dist="38100" dir="5400000" algn="bl" rotWithShape="0">
              <a:srgbClr val="9AA9B5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96112" y="2880360"/>
            <a:ext cx="658368" cy="658368"/>
          </a:xfrm>
          <a:prstGeom prst="ellipse">
            <a:avLst/>
          </a:prstGeom>
          <a:solidFill>
            <a:srgbClr val="F7E5E5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" y="3044952"/>
            <a:ext cx="329184" cy="32918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41248" y="3685032"/>
            <a:ext cx="21854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D2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Invisible Inventory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841248" y="4297680"/>
            <a:ext cx="21854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view of medicine stock, beds, or staff attendance across PHCs.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3456432" y="2606040"/>
            <a:ext cx="2587752" cy="3063240"/>
          </a:xfrm>
          <a:prstGeom prst="roundRect">
            <a:avLst>
              <a:gd name="adj" fmla="val 3180"/>
            </a:avLst>
          </a:prstGeom>
          <a:solidFill>
            <a:srgbClr val="FFFFFF"/>
          </a:solidFill>
          <a:ln w="12700">
            <a:solidFill>
              <a:srgbClr val="E3E9ED"/>
            </a:solidFill>
            <a:prstDash val="solid"/>
          </a:ln>
          <a:effectLst>
            <a:outerShdw blurRad="101600" dist="38100" dir="5400000" algn="bl" rotWithShape="0">
              <a:srgbClr val="9AA9B5">
                <a:alpha val="2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712464" y="2880360"/>
            <a:ext cx="658368" cy="658368"/>
          </a:xfrm>
          <a:prstGeom prst="ellipse">
            <a:avLst/>
          </a:prstGeom>
          <a:solidFill>
            <a:srgbClr val="F7E5E5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7056" y="3044952"/>
            <a:ext cx="329184" cy="32918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657600" y="3685032"/>
            <a:ext cx="21854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D2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Late-Stage Alerts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3657600" y="4297680"/>
            <a:ext cx="21854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Stock-outs are discovered after they happen, not predicted before.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272784" y="2606040"/>
            <a:ext cx="2587752" cy="3063240"/>
          </a:xfrm>
          <a:prstGeom prst="roundRect">
            <a:avLst>
              <a:gd name="adj" fmla="val 3180"/>
            </a:avLst>
          </a:prstGeom>
          <a:solidFill>
            <a:srgbClr val="FFFFFF"/>
          </a:solidFill>
          <a:ln w="12700">
            <a:solidFill>
              <a:srgbClr val="E3E9ED"/>
            </a:solidFill>
            <a:prstDash val="solid"/>
          </a:ln>
          <a:effectLst>
            <a:outerShdw blurRad="101600" dist="38100" dir="5400000" algn="bl" rotWithShape="0">
              <a:srgbClr val="9AA9B5">
                <a:alpha val="2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528816" y="2880360"/>
            <a:ext cx="658368" cy="658368"/>
          </a:xfrm>
          <a:prstGeom prst="ellipse">
            <a:avLst/>
          </a:prstGeom>
          <a:solidFill>
            <a:srgbClr val="F7E5E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3408" y="3044952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473952" y="3685032"/>
            <a:ext cx="21854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D2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Trapped Surplus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6473952" y="4297680"/>
            <a:ext cx="21854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district runs short while a neighbouring district holds unused stock.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9089136" y="2606040"/>
            <a:ext cx="2587752" cy="3063240"/>
          </a:xfrm>
          <a:prstGeom prst="roundRect">
            <a:avLst>
              <a:gd name="adj" fmla="val 3180"/>
            </a:avLst>
          </a:prstGeom>
          <a:solidFill>
            <a:srgbClr val="FFFFFF"/>
          </a:solidFill>
          <a:ln w="12700">
            <a:solidFill>
              <a:srgbClr val="E3E9ED"/>
            </a:solidFill>
            <a:prstDash val="solid"/>
          </a:ln>
          <a:effectLst>
            <a:outerShdw blurRad="101600" dist="38100" dir="5400000" algn="bl" rotWithShape="0">
              <a:srgbClr val="9AA9B5">
                <a:alpha val="2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9345168" y="2880360"/>
            <a:ext cx="658368" cy="658368"/>
          </a:xfrm>
          <a:prstGeom prst="ellipse">
            <a:avLst/>
          </a:prstGeom>
          <a:solidFill>
            <a:srgbClr val="F7E5E5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9760" y="3044952"/>
            <a:ext cx="329184" cy="32918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9290304" y="3685032"/>
            <a:ext cx="21854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D2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Emergency Response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9290304" y="4297680"/>
            <a:ext cx="21854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mechanism to redistribute resources fast when outbreaks hit.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640080" y="5989320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0D2B4E"/>
          </a:solidFill>
          <a:ln/>
        </p:spPr>
      </p:sp>
      <p:sp>
        <p:nvSpPr>
          <p:cNvPr id="27" name="Text 20"/>
          <p:cNvSpPr txBox="1"/>
          <p:nvPr/>
        </p:nvSpPr>
        <p:spPr>
          <a:xfrm>
            <a:off x="868680" y="59893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effect: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Preventable stock-outs during exactly the moments — outbreaks, disasters — when supply chain resilience matters most.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75136" y="265176"/>
            <a:ext cx="612648" cy="6126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320040"/>
            <a:ext cx="502920" cy="502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SwasthyaSetu AI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4173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federated AI platform — Predict → Detect → Recommend → Redistribute — built on state-local model training so raw health data never leaves a state’s own servers.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331720"/>
            <a:ext cx="2331720" cy="1965960"/>
          </a:xfrm>
          <a:prstGeom prst="roundRect">
            <a:avLst>
              <a:gd name="adj" fmla="val 4186"/>
            </a:avLst>
          </a:prstGeom>
          <a:solidFill>
            <a:srgbClr val="081B32"/>
          </a:solidFill>
          <a:ln w="12700">
            <a:solidFill>
              <a:srgbClr val="1E3C5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485900" y="2587752"/>
            <a:ext cx="640080" cy="64008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1348" y="2752344"/>
            <a:ext cx="329184" cy="32918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49808" y="2423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749808" y="3337560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363016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C4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stock, bed &amp;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C4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data from every PHC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2990088" y="3113532"/>
            <a:ext cx="283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3291840" y="2331720"/>
            <a:ext cx="2331720" cy="1965960"/>
          </a:xfrm>
          <a:prstGeom prst="roundRect">
            <a:avLst>
              <a:gd name="adj" fmla="val 4186"/>
            </a:avLst>
          </a:prstGeom>
          <a:solidFill>
            <a:srgbClr val="081B32"/>
          </a:solidFill>
          <a:ln w="12700">
            <a:solidFill>
              <a:srgbClr val="1E3C5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137660" y="2587752"/>
            <a:ext cx="640080" cy="64008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3108" y="2752344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401568" y="2423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3401568" y="3337560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3429000" y="363016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C4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predicts demand &amp;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C4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stock-out probability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5641848" y="3113532"/>
            <a:ext cx="283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6"/>
          <p:cNvSpPr/>
          <p:nvPr/>
        </p:nvSpPr>
        <p:spPr>
          <a:xfrm>
            <a:off x="5943600" y="2331720"/>
            <a:ext cx="2331720" cy="1965960"/>
          </a:xfrm>
          <a:prstGeom prst="roundRect">
            <a:avLst>
              <a:gd name="adj" fmla="val 4186"/>
            </a:avLst>
          </a:prstGeom>
          <a:solidFill>
            <a:srgbClr val="081B32"/>
          </a:solidFill>
          <a:ln w="12700">
            <a:solidFill>
              <a:srgbClr val="1E3C5C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789420" y="2587752"/>
            <a:ext cx="640080" cy="64008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4868" y="2752344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053328" y="2423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6053328" y="3337560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</a:t>
            </a:r>
            <a:endParaRPr lang="en-US" sz="1250" dirty="0"/>
          </a:p>
        </p:txBody>
      </p:sp>
      <p:sp>
        <p:nvSpPr>
          <p:cNvPr id="26" name="Text 20"/>
          <p:cNvSpPr txBox="1"/>
          <p:nvPr/>
        </p:nvSpPr>
        <p:spPr>
          <a:xfrm>
            <a:off x="6080760" y="363016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C4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before shortage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C4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happens</a:t>
            </a:r>
            <a:endParaRPr lang="en-US" sz="1050" dirty="0"/>
          </a:p>
        </p:txBody>
      </p:sp>
      <p:sp>
        <p:nvSpPr>
          <p:cNvPr id="27" name="Text 21"/>
          <p:cNvSpPr txBox="1"/>
          <p:nvPr/>
        </p:nvSpPr>
        <p:spPr>
          <a:xfrm>
            <a:off x="8293608" y="3113532"/>
            <a:ext cx="283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2"/>
          <p:cNvSpPr/>
          <p:nvPr/>
        </p:nvSpPr>
        <p:spPr>
          <a:xfrm>
            <a:off x="8595360" y="2331720"/>
            <a:ext cx="2331720" cy="1965960"/>
          </a:xfrm>
          <a:prstGeom prst="roundRect">
            <a:avLst>
              <a:gd name="adj" fmla="val 4186"/>
            </a:avLst>
          </a:prstGeom>
          <a:solidFill>
            <a:srgbClr val="081B32"/>
          </a:solidFill>
          <a:ln w="12700">
            <a:solidFill>
              <a:srgbClr val="1E3C5C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9441180" y="2587752"/>
            <a:ext cx="640080" cy="64008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96628" y="2752344"/>
            <a:ext cx="329184" cy="329184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8705088" y="2423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Text 25"/>
          <p:cNvSpPr txBox="1"/>
          <p:nvPr/>
        </p:nvSpPr>
        <p:spPr>
          <a:xfrm>
            <a:off x="8705088" y="3337560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REDISTRIBUTE</a:t>
            </a:r>
            <a:endParaRPr lang="en-US" sz="1250" dirty="0"/>
          </a:p>
        </p:txBody>
      </p:sp>
      <p:sp>
        <p:nvSpPr>
          <p:cNvPr id="33" name="Text 26"/>
          <p:cNvSpPr txBox="1"/>
          <p:nvPr/>
        </p:nvSpPr>
        <p:spPr>
          <a:xfrm>
            <a:off x="8732520" y="363016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C4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cross-district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C4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recommendations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640080" y="4617720"/>
            <a:ext cx="10881360" cy="1691640"/>
          </a:xfrm>
          <a:prstGeom prst="roundRect">
            <a:avLst>
              <a:gd name="adj" fmla="val 4865"/>
            </a:avLst>
          </a:prstGeom>
          <a:solidFill>
            <a:srgbClr val="2E8B57"/>
          </a:solidFill>
          <a:ln/>
        </p:spPr>
      </p:sp>
      <p:sp>
        <p:nvSpPr>
          <p:cNvPr id="35" name="Shape 28"/>
          <p:cNvSpPr/>
          <p:nvPr/>
        </p:nvSpPr>
        <p:spPr>
          <a:xfrm>
            <a:off x="914400" y="4937760"/>
            <a:ext cx="1005840" cy="1005840"/>
          </a:xfrm>
          <a:prstGeom prst="ellipse">
            <a:avLst/>
          </a:prstGeom>
          <a:solidFill>
            <a:srgbClr val="FFFFFF">
              <a:alpha val="92000"/>
            </a:srgbClr>
          </a:solidFill>
          <a:ln/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8720" y="5212080"/>
            <a:ext cx="457200" cy="45720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2194560" y="480060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Privacy-Preserving Federated Learning</a:t>
            </a:r>
            <a:endParaRPr lang="en-US" sz="1700" dirty="0"/>
          </a:p>
        </p:txBody>
      </p:sp>
      <p:sp>
        <p:nvSpPr>
          <p:cNvPr id="38" name="Text 30"/>
          <p:cNvSpPr txBox="1"/>
          <p:nvPr/>
        </p:nvSpPr>
        <p:spPr>
          <a:xfrm>
            <a:off x="2194560" y="5193792"/>
            <a:ext cx="9006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A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state trains its forecasting model on its own local data. Only model weight updates — never raw patient or stock data — are shared with the National Aggregator (FedAvg), which redistributes an improved global model back to every state.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3200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2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6002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6F8F9"/>
          </a:solidFill>
          <a:ln w="12700">
            <a:solidFill>
              <a:srgbClr val="E3E9E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41248" y="1801368"/>
            <a:ext cx="502920" cy="502920"/>
          </a:xfrm>
          <a:prstGeom prst="ellipse">
            <a:avLst/>
          </a:prstGeom>
          <a:solidFill>
            <a:srgbClr val="DCEFE3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1920240"/>
            <a:ext cx="265176" cy="26517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181965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&amp; Edge App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859536" y="2377440"/>
            <a:ext cx="3081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(PWA) — offline-first PHC data entry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/ Plotly — dashboards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Mapbox — geographic risk view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4343400" y="16002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6F8F9"/>
          </a:solidFill>
          <a:ln w="12700">
            <a:solidFill>
              <a:srgbClr val="E3E9ED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544568" y="1801368"/>
            <a:ext cx="502920" cy="502920"/>
          </a:xfrm>
          <a:prstGeom prst="ellipse">
            <a:avLst/>
          </a:prstGeom>
          <a:solidFill>
            <a:srgbClr val="DCEFE3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1920240"/>
            <a:ext cx="265176" cy="26517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166360" y="181965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4562856" y="2377440"/>
            <a:ext cx="3081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 — REST APIs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role auth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— multi-state simulation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8046720" y="16002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6F8F9"/>
          </a:solidFill>
          <a:ln w="12700">
            <a:solidFill>
              <a:srgbClr val="E3E9ED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247888" y="1801368"/>
            <a:ext cx="502920" cy="502920"/>
          </a:xfrm>
          <a:prstGeom prst="ellipse">
            <a:avLst/>
          </a:prstGeom>
          <a:solidFill>
            <a:srgbClr val="DCEFE3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760" y="1920240"/>
            <a:ext cx="265176" cy="26517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869680" y="181965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Layer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8266176" y="2377440"/>
            <a:ext cx="3081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TimescaleDB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stock &amp; consumption logs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ABDM-compatible (FHIR) schema design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640080" y="37490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6F8F9"/>
          </a:solidFill>
          <a:ln w="12700">
            <a:solidFill>
              <a:srgbClr val="E3E9ED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841248" y="3950208"/>
            <a:ext cx="502920" cy="502920"/>
          </a:xfrm>
          <a:prstGeom prst="ellipse">
            <a:avLst/>
          </a:prstGeom>
          <a:solidFill>
            <a:srgbClr val="DCEFE3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4069080"/>
            <a:ext cx="265176" cy="26517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463040" y="396849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/ Forecasting</a:t>
            </a:r>
            <a:endParaRPr lang="en-US" sz="1400" dirty="0"/>
          </a:p>
        </p:txBody>
      </p:sp>
      <p:sp>
        <p:nvSpPr>
          <p:cNvPr id="24" name="Text 17"/>
          <p:cNvSpPr txBox="1"/>
          <p:nvPr/>
        </p:nvSpPr>
        <p:spPr>
          <a:xfrm>
            <a:off x="859536" y="4526280"/>
            <a:ext cx="3081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/ XGBoost — demand forecasting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Stock-out probability modelling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Outbreak / anomaly detection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4343400" y="37490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6F8F9"/>
          </a:solidFill>
          <a:ln w="12700">
            <a:solidFill>
              <a:srgbClr val="E3E9ED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544568" y="3950208"/>
            <a:ext cx="502920" cy="502920"/>
          </a:xfrm>
          <a:prstGeom prst="ellipse">
            <a:avLst/>
          </a:prstGeom>
          <a:solidFill>
            <a:srgbClr val="DCEFE3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3440" y="4069080"/>
            <a:ext cx="265176" cy="265176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166360" y="396849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Federated Learning</a:t>
            </a:r>
            <a:endParaRPr lang="en-US" sz="1400" dirty="0"/>
          </a:p>
        </p:txBody>
      </p:sp>
      <p:sp>
        <p:nvSpPr>
          <p:cNvPr id="29" name="Text 21"/>
          <p:cNvSpPr txBox="1"/>
          <p:nvPr/>
        </p:nvSpPr>
        <p:spPr>
          <a:xfrm>
            <a:off x="4562856" y="4526280"/>
            <a:ext cx="3081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Flower (flwr) — federated simulation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FedAvg across state nodes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training, weights-only sharing</a:t>
            </a:r>
            <a:endParaRPr lang="en-US" sz="1050" dirty="0"/>
          </a:p>
        </p:txBody>
      </p:sp>
      <p:sp>
        <p:nvSpPr>
          <p:cNvPr id="30" name="Shape 22"/>
          <p:cNvSpPr/>
          <p:nvPr/>
        </p:nvSpPr>
        <p:spPr>
          <a:xfrm>
            <a:off x="8046720" y="37490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6F8F9"/>
          </a:solidFill>
          <a:ln w="12700">
            <a:solidFill>
              <a:srgbClr val="E3E9ED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8247888" y="3950208"/>
            <a:ext cx="502920" cy="502920"/>
          </a:xfrm>
          <a:prstGeom prst="ellipse">
            <a:avLst/>
          </a:prstGeom>
          <a:solidFill>
            <a:srgbClr val="DCEFE3"/>
          </a:solidFill>
          <a:ln/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66760" y="4069080"/>
            <a:ext cx="265176" cy="265176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8869680" y="396849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</a:t>
            </a:r>
            <a:endParaRPr lang="en-US" sz="1400" dirty="0"/>
          </a:p>
        </p:txBody>
      </p:sp>
      <p:sp>
        <p:nvSpPr>
          <p:cNvPr id="34" name="Text 25"/>
          <p:cNvSpPr txBox="1"/>
          <p:nvPr/>
        </p:nvSpPr>
        <p:spPr>
          <a:xfrm>
            <a:off x="8266176" y="4526280"/>
            <a:ext cx="3081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PuLP / OR-Tools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Transportation-problem redistribution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Distance, urgency &amp; shelf-life aware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B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75136" y="265176"/>
            <a:ext cx="612648" cy="6126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320040"/>
            <a:ext cx="502920" cy="502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PROTOTYPE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7315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Landing Page to Core Capabilities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640080" y="1508760"/>
            <a:ext cx="5257800" cy="2791787"/>
          </a:xfrm>
          <a:prstGeom prst="roundRect">
            <a:avLst>
              <a:gd name="adj" fmla="val 1965"/>
            </a:avLst>
          </a:prstGeom>
          <a:solidFill>
            <a:srgbClr val="E7ECEF"/>
          </a:solidFill>
          <a:ln w="12700">
            <a:solidFill>
              <a:srgbClr val="D3DBE0"/>
            </a:solidFill>
            <a:prstDash val="solid"/>
          </a:ln>
          <a:effectLst>
            <a:outerShdw blurRad="127000" dist="50800" dir="5400000" algn="bl" rotWithShape="0">
              <a:srgbClr val="8FA0AD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68096" y="1591056"/>
            <a:ext cx="91440" cy="91440"/>
          </a:xfrm>
          <a:prstGeom prst="ellipse">
            <a:avLst/>
          </a:prstGeom>
          <a:solidFill>
            <a:srgbClr val="B23A3A"/>
          </a:solidFill>
          <a:ln/>
        </p:spPr>
      </p:sp>
      <p:sp>
        <p:nvSpPr>
          <p:cNvPr id="8" name="Shape 5"/>
          <p:cNvSpPr/>
          <p:nvPr/>
        </p:nvSpPr>
        <p:spPr>
          <a:xfrm>
            <a:off x="950976" y="1591056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9" name="Shape 6"/>
          <p:cNvSpPr/>
          <p:nvPr/>
        </p:nvSpPr>
        <p:spPr>
          <a:xfrm>
            <a:off x="1133856" y="1591056"/>
            <a:ext cx="91440" cy="9144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1764792"/>
            <a:ext cx="5184648" cy="249917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0080" y="4355411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A9BB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hero — scroll-scrubbed frame animation, brand tagline &amp; CTA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263640" y="1508760"/>
            <a:ext cx="5257800" cy="2780445"/>
          </a:xfrm>
          <a:prstGeom prst="roundRect">
            <a:avLst>
              <a:gd name="adj" fmla="val 1973"/>
            </a:avLst>
          </a:prstGeom>
          <a:solidFill>
            <a:srgbClr val="E7ECEF"/>
          </a:solidFill>
          <a:ln w="12700">
            <a:solidFill>
              <a:srgbClr val="D3DBE0"/>
            </a:solidFill>
            <a:prstDash val="solid"/>
          </a:ln>
          <a:effectLst>
            <a:outerShdw blurRad="127000" dist="50800" dir="5400000" algn="bl" rotWithShape="0">
              <a:srgbClr val="8FA0AD">
                <a:alpha val="3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391656" y="1591056"/>
            <a:ext cx="91440" cy="91440"/>
          </a:xfrm>
          <a:prstGeom prst="ellipse">
            <a:avLst/>
          </a:prstGeom>
          <a:solidFill>
            <a:srgbClr val="B23A3A"/>
          </a:solidFill>
          <a:ln/>
        </p:spPr>
      </p:sp>
      <p:sp>
        <p:nvSpPr>
          <p:cNvPr id="14" name="Shape 10"/>
          <p:cNvSpPr/>
          <p:nvPr/>
        </p:nvSpPr>
        <p:spPr>
          <a:xfrm>
            <a:off x="6574536" y="1591056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5" name="Shape 11"/>
          <p:cNvSpPr/>
          <p:nvPr/>
        </p:nvSpPr>
        <p:spPr>
          <a:xfrm>
            <a:off x="6757416" y="1591056"/>
            <a:ext cx="91440" cy="9144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216" y="1764792"/>
            <a:ext cx="5184648" cy="248783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263640" y="4344069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A9BB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Core Capabilities — bridging eVIN, ABDM &amp; HMIS into one intelligence layer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B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75136" y="265176"/>
            <a:ext cx="612648" cy="6126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320040"/>
            <a:ext cx="502920" cy="502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PROTOTYPE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7315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Access, Secured End-to-End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640080" y="1508760"/>
            <a:ext cx="6446520" cy="3324671"/>
          </a:xfrm>
          <a:prstGeom prst="roundRect">
            <a:avLst>
              <a:gd name="adj" fmla="val 1650"/>
            </a:avLst>
          </a:prstGeom>
          <a:solidFill>
            <a:srgbClr val="E7ECEF"/>
          </a:solidFill>
          <a:ln w="12700">
            <a:solidFill>
              <a:srgbClr val="D3DBE0"/>
            </a:solidFill>
            <a:prstDash val="solid"/>
          </a:ln>
          <a:effectLst>
            <a:outerShdw blurRad="127000" dist="50800" dir="5400000" algn="bl" rotWithShape="0">
              <a:srgbClr val="8FA0AD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68096" y="1591056"/>
            <a:ext cx="91440" cy="91440"/>
          </a:xfrm>
          <a:prstGeom prst="ellipse">
            <a:avLst/>
          </a:prstGeom>
          <a:solidFill>
            <a:srgbClr val="B23A3A"/>
          </a:solidFill>
          <a:ln/>
        </p:spPr>
      </p:sp>
      <p:sp>
        <p:nvSpPr>
          <p:cNvPr id="8" name="Shape 5"/>
          <p:cNvSpPr/>
          <p:nvPr/>
        </p:nvSpPr>
        <p:spPr>
          <a:xfrm>
            <a:off x="950976" y="1591056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9" name="Shape 6"/>
          <p:cNvSpPr/>
          <p:nvPr/>
        </p:nvSpPr>
        <p:spPr>
          <a:xfrm>
            <a:off x="1133856" y="1591056"/>
            <a:ext cx="91440" cy="9144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1764792"/>
            <a:ext cx="6373368" cy="303206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0080" y="4888295"/>
            <a:ext cx="6446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A9BB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operational stations — PHC staff to National Health Ministry, one platform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360920" y="1508760"/>
            <a:ext cx="3794760" cy="3316450"/>
          </a:xfrm>
          <a:prstGeom prst="roundRect">
            <a:avLst>
              <a:gd name="adj" fmla="val 1654"/>
            </a:avLst>
          </a:prstGeom>
          <a:solidFill>
            <a:srgbClr val="E7ECEF"/>
          </a:solidFill>
          <a:ln w="12700">
            <a:solidFill>
              <a:srgbClr val="D3DBE0"/>
            </a:solidFill>
            <a:prstDash val="solid"/>
          </a:ln>
          <a:effectLst>
            <a:outerShdw blurRad="127000" dist="50800" dir="5400000" algn="bl" rotWithShape="0">
              <a:srgbClr val="8FA0AD">
                <a:alpha val="3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488936" y="1591056"/>
            <a:ext cx="91440" cy="91440"/>
          </a:xfrm>
          <a:prstGeom prst="ellipse">
            <a:avLst/>
          </a:prstGeom>
          <a:solidFill>
            <a:srgbClr val="B23A3A"/>
          </a:solidFill>
          <a:ln/>
        </p:spPr>
      </p:sp>
      <p:sp>
        <p:nvSpPr>
          <p:cNvPr id="14" name="Shape 10"/>
          <p:cNvSpPr/>
          <p:nvPr/>
        </p:nvSpPr>
        <p:spPr>
          <a:xfrm>
            <a:off x="7671816" y="1591056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5" name="Shape 11"/>
          <p:cNvSpPr/>
          <p:nvPr/>
        </p:nvSpPr>
        <p:spPr>
          <a:xfrm>
            <a:off x="7854696" y="1591056"/>
            <a:ext cx="91440" cy="9144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7496" y="1764792"/>
            <a:ext cx="3721608" cy="3023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360920" y="4880074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A9BB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sign-in — zero patient records ever centralized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5029200" cy="5029200"/>
          </a:xfrm>
          <a:prstGeom prst="ellipse">
            <a:avLst/>
          </a:prstGeom>
          <a:solidFill>
            <a:srgbClr val="2E8B57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F2A93B">
              <a:alpha val="10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9175" y="552450"/>
            <a:ext cx="2571749" cy="241935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0" y="324612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4041648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resilient, privacy-first supply chain for India’s public health system.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175504" y="4709160"/>
            <a:ext cx="1828800" cy="0"/>
          </a:xfrm>
          <a:prstGeom prst="line">
            <a:avLst/>
          </a:prstGeom>
          <a:noFill/>
          <a:ln w="28575">
            <a:solidFill>
              <a:srgbClr val="F2A93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0" y="493776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EKLAVYA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0" y="5321808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Rudra Pratap Chaurasiya  (Team Leader)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-9525" y="5632704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i="1" dirty="0">
                <a:solidFill>
                  <a:srgbClr val="8E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Sankalp Sachan   • Mohammad  </a:t>
            </a:r>
            <a:r>
              <a:rPr lang="en-US" sz="1200" i="1" dirty="0" err="1">
                <a:solidFill>
                  <a:srgbClr val="8E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Sirfan</a:t>
            </a:r>
            <a:r>
              <a:rPr lang="en-US" sz="1200" i="1" dirty="0">
                <a:solidFill>
                  <a:srgbClr val="8E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0" y="644652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5E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SwasthyaSetu AI  —  Smart Health. Stronger India.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498</Words>
  <Application>Microsoft Office PowerPoint</Application>
  <PresentationFormat>Widescreen</PresentationFormat>
  <Paragraphs>91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Rudra Pratap Chaurasiya</cp:lastModifiedBy>
  <cp:revision>5</cp:revision>
  <dcterms:created xsi:type="dcterms:W3CDTF">2026-08-29T19:32:51Z</dcterms:created>
  <dcterms:modified xsi:type="dcterms:W3CDTF">2026-08-30T08:44:15Z</dcterms:modified>
</cp:coreProperties>
</file>